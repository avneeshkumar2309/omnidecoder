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3"/>
          </a:solidFill>
          <a:ln w="12700">
            <a:solidFill>
              <a:srgbClr val="28E0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30" kern="0" dirty="0">
                <a:solidFill>
                  <a:srgbClr val="6F82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OMNIDECODER  /  FORENSIC DECODING WORKBENCH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549640" y="64739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10" kern="0" dirty="0">
                <a:solidFill>
                  <a:srgbClr val="6F82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 •  ANALYST-READY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82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82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594360"/>
            <a:ext cx="3749040" cy="3749040"/>
          </a:xfrm>
          <a:prstGeom prst="ellipse">
            <a:avLst/>
          </a:prstGeom>
          <a:solidFill>
            <a:srgbClr val="28E0D3">
              <a:alpha val="8000"/>
            </a:srgbClr>
          </a:solidFill>
          <a:ln w="12700">
            <a:solidFill>
              <a:srgbClr val="28E0D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1261872"/>
            <a:ext cx="2395728" cy="2395728"/>
          </a:xfrm>
          <a:prstGeom prst="ellipse">
            <a:avLst/>
          </a:prstGeom>
          <a:solidFill>
            <a:srgbClr val="A982FF">
              <a:alpha val="14000"/>
            </a:srgbClr>
          </a:solidFill>
          <a:ln w="12700">
            <a:solidFill>
              <a:srgbClr val="A982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3383280"/>
            <a:ext cx="2926080" cy="0"/>
          </a:xfrm>
          <a:prstGeom prst="line">
            <a:avLst/>
          </a:prstGeom>
          <a:noFill/>
          <a:ln w="13970">
            <a:solidFill>
              <a:srgbClr val="28E0D3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27848" y="3108960"/>
            <a:ext cx="2926080" cy="0"/>
          </a:xfrm>
          <a:prstGeom prst="line">
            <a:avLst/>
          </a:prstGeom>
          <a:noFill/>
          <a:ln w="13970">
            <a:solidFill>
              <a:srgbClr val="A982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03336" y="2834640"/>
            <a:ext cx="2926080" cy="0"/>
          </a:xfrm>
          <a:prstGeom prst="line">
            <a:avLst/>
          </a:prstGeom>
          <a:noFill/>
          <a:ln w="13970">
            <a:solidFill>
              <a:srgbClr val="28E0D3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78824" y="2560320"/>
            <a:ext cx="2926080" cy="0"/>
          </a:xfrm>
          <a:prstGeom prst="line">
            <a:avLst/>
          </a:prstGeom>
          <a:noFill/>
          <a:ln w="13970">
            <a:solidFill>
              <a:srgbClr val="A982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54312" y="2286000"/>
            <a:ext cx="2926080" cy="0"/>
          </a:xfrm>
          <a:prstGeom prst="line">
            <a:avLst/>
          </a:prstGeom>
          <a:noFill/>
          <a:ln w="13970">
            <a:solidFill>
              <a:srgbClr val="28E0D3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7043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8E0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OMNIDECODER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6766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 what</a:t>
            </a:r>
            <a:endParaRPr lang="en-US" sz="3700" dirty="0"/>
          </a:p>
          <a:p>
            <a:pPr algn="l" indent="0" marL="0">
              <a:buNone/>
            </a:pPr>
            <a:r>
              <a:rPr lang="en-US" sz="37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tools miss.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621792" y="3172968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local-first forensic workbench for uncovering concealed encoding, steganographic signals, and multi-layer payloads.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" y="4096512"/>
            <a:ext cx="1161288" cy="265176"/>
          </a:xfrm>
          <a:prstGeom prst="roundRect">
            <a:avLst>
              <a:gd name="adj" fmla="val 34483"/>
            </a:avLst>
          </a:prstGeom>
          <a:solidFill>
            <a:srgbClr val="28E0D3">
              <a:alpha val="16000"/>
            </a:srgbClr>
          </a:solidFill>
          <a:ln w="7620">
            <a:solidFill>
              <a:srgbClr val="28E0D3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105656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60" kern="0" dirty="0">
                <a:solidFill>
                  <a:srgbClr val="28E0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ZERO-WIDTH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1892808" y="4096512"/>
            <a:ext cx="1481328" cy="265176"/>
          </a:xfrm>
          <a:prstGeom prst="roundRect">
            <a:avLst>
              <a:gd name="adj" fmla="val 34483"/>
            </a:avLst>
          </a:prstGeom>
          <a:solidFill>
            <a:srgbClr val="A982FF">
              <a:alpha val="16000"/>
            </a:srgbClr>
          </a:solidFill>
          <a:ln w="7620">
            <a:solidFill>
              <a:srgbClr val="A982FF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92808" y="410565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60" kern="0" dirty="0">
                <a:solidFill>
                  <a:srgbClr val="A98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BASE64 FORENSICS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3493008" y="4096512"/>
            <a:ext cx="1408176" cy="265176"/>
          </a:xfrm>
          <a:prstGeom prst="roundRect">
            <a:avLst>
              <a:gd name="adj" fmla="val 34483"/>
            </a:avLst>
          </a:prstGeom>
          <a:solidFill>
            <a:srgbClr val="FFC857">
              <a:alpha val="16000"/>
            </a:srgbClr>
          </a:solidFill>
          <a:ln w="7620">
            <a:solidFill>
              <a:srgbClr val="FFC857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4105656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spc="60" kern="0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DECODING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621792" y="50474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deck  |  August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06640" y="524865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spc="110" kern="0" dirty="0">
                <a:solidFill>
                  <a:srgbClr val="28E0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ANALYSIS  ×  OPTIONAL GEMINI ASSISTANCE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82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8E0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—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309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Encoded data hides in plain sight.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decoding flows stop at the first recognizable layer — the signal may be deeper.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401568" cy="2514600"/>
          </a:xfrm>
          <a:prstGeom prst="roundRect">
            <a:avLst>
              <a:gd name="adj" fmla="val 4727"/>
            </a:avLst>
          </a:prstGeom>
          <a:solidFill>
            <a:srgbClr val="0C1A2B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75688"/>
            <a:ext cx="329184" cy="329184"/>
          </a:xfrm>
          <a:prstGeom prst="ellipse">
            <a:avLst/>
          </a:prstGeom>
          <a:solidFill>
            <a:srgbClr val="28E0D3">
              <a:alpha val="88000"/>
            </a:srgbClr>
          </a:solidFill>
          <a:ln w="12700">
            <a:solidFill>
              <a:srgbClr val="28E0D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3969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22960" y="259689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Invisible channels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008376"/>
            <a:ext cx="2862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Zero-width characters can carry bits while leaving text visually unchanged.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401568" cy="2514600"/>
          </a:xfrm>
          <a:prstGeom prst="roundRect">
            <a:avLst>
              <a:gd name="adj" fmla="val 4727"/>
            </a:avLst>
          </a:prstGeom>
          <a:solidFill>
            <a:srgbClr val="0C1A2B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075688"/>
            <a:ext cx="329184" cy="329184"/>
          </a:xfrm>
          <a:prstGeom prst="ellipse">
            <a:avLst/>
          </a:prstGeom>
          <a:solidFill>
            <a:srgbClr val="A982FF">
              <a:alpha val="88000"/>
            </a:srgbClr>
          </a:solidFill>
          <a:ln w="12700">
            <a:solidFill>
              <a:srgbClr val="A982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13969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0" y="259689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Valid-looking containers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3008376"/>
            <a:ext cx="2862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Base64 can conceal information in unused padding bits.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2440" y="1828800"/>
            <a:ext cx="3401568" cy="2514600"/>
          </a:xfrm>
          <a:prstGeom prst="roundRect">
            <a:avLst>
              <a:gd name="adj" fmla="val 4727"/>
            </a:avLst>
          </a:prstGeom>
          <a:solidFill>
            <a:srgbClr val="0C1A2B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075688"/>
            <a:ext cx="329184" cy="329184"/>
          </a:xfrm>
          <a:prstGeom prst="ellipse">
            <a:avLst/>
          </a:prstGeom>
          <a:solidFill>
            <a:srgbClr val="FFC857">
              <a:alpha val="88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13969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321040" y="259689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Ambiguous payloads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3008376"/>
            <a:ext cx="2862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alphabets, noise, compression, encryption, and hashes demand different tests.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48920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OmniDecoder brings complementary forensic checks into one analyst workflow — fast, explainable, and mostly local.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" y="5349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8E0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594360" y="5742432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 MODULES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880360" y="5349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A98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256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2880360" y="5742432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XOR KEYS TESTED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212080" y="5349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MB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5212080" y="5742432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PROXY REQUEST LIMIT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82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8E0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— PRODUCT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309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payload. Multiple forensic lenses.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suspicious text, ciphertext, Base64, hex, or a hash; select the lens that fits the question.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3337560" cy="749808"/>
          </a:xfrm>
          <a:prstGeom prst="roundRect">
            <a:avLst>
              <a:gd name="adj" fmla="val 15854"/>
            </a:avLst>
          </a:prstGeom>
          <a:solidFill>
            <a:srgbClr val="0C1A2B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746504"/>
            <a:ext cx="64008" cy="731520"/>
          </a:xfrm>
          <a:prstGeom prst="rect">
            <a:avLst/>
          </a:prstGeom>
          <a:solidFill>
            <a:srgbClr val="28E0D3"/>
          </a:solidFill>
          <a:ln w="12700">
            <a:solidFill>
              <a:srgbClr val="28E0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0195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Zero-Width Inspector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6712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hidden unicode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337560" cy="749808"/>
          </a:xfrm>
          <a:prstGeom prst="roundRect">
            <a:avLst>
              <a:gd name="adj" fmla="val 15854"/>
            </a:avLst>
          </a:prstGeom>
          <a:solidFill>
            <a:srgbClr val="0C1A2B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06824" y="1746504"/>
            <a:ext cx="64008" cy="731520"/>
          </a:xfrm>
          <a:prstGeom prst="rect">
            <a:avLst/>
          </a:prstGeom>
          <a:solidFill>
            <a:srgbClr val="A982FF"/>
          </a:solidFill>
          <a:ln w="12700">
            <a:solidFill>
              <a:srgbClr val="A98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90195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Base64 Padding Bits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216712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unused bits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001000" y="1737360"/>
            <a:ext cx="3337560" cy="749808"/>
          </a:xfrm>
          <a:prstGeom prst="roundRect">
            <a:avLst>
              <a:gd name="adj" fmla="val 15854"/>
            </a:avLst>
          </a:prstGeom>
          <a:solidFill>
            <a:srgbClr val="0C1A2B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0144" y="1746504"/>
            <a:ext cx="64008" cy="731520"/>
          </a:xfrm>
          <a:prstGeom prst="rect">
            <a:avLst/>
          </a:prstGeom>
          <a:solidFill>
            <a:srgbClr val="28E0D3"/>
          </a:solidFill>
          <a:ln w="12700">
            <a:solidFill>
              <a:srgbClr val="28E0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90195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Alphabet Auto-Tuner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216712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and decode bases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2816352"/>
            <a:ext cx="3337560" cy="749808"/>
          </a:xfrm>
          <a:prstGeom prst="roundRect">
            <a:avLst>
              <a:gd name="adj" fmla="val 15854"/>
            </a:avLst>
          </a:prstGeom>
          <a:solidFill>
            <a:srgbClr val="0C1A2B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" y="2825496"/>
            <a:ext cx="64008" cy="73152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98094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Entropy Inspector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246120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randomness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97680" y="2816352"/>
            <a:ext cx="3337560" cy="749808"/>
          </a:xfrm>
          <a:prstGeom prst="roundRect">
            <a:avLst>
              <a:gd name="adj" fmla="val 15854"/>
            </a:avLst>
          </a:prstGeom>
          <a:solidFill>
            <a:srgbClr val="0C1A2B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06824" y="2825496"/>
            <a:ext cx="64008" cy="731520"/>
          </a:xfrm>
          <a:prstGeom prst="rect">
            <a:avLst/>
          </a:prstGeom>
          <a:solidFill>
            <a:srgbClr val="55E6A5"/>
          </a:solidFill>
          <a:ln w="12700">
            <a:solidFill>
              <a:srgbClr val="55E6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298094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Decode Pipeline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3246120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Peel layers recursively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001000" y="2816352"/>
            <a:ext cx="3337560" cy="749808"/>
          </a:xfrm>
          <a:prstGeom prst="roundRect">
            <a:avLst>
              <a:gd name="adj" fmla="val 15854"/>
            </a:avLst>
          </a:prstGeom>
          <a:solidFill>
            <a:srgbClr val="0C1A2B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0144" y="2825496"/>
            <a:ext cx="64008" cy="731520"/>
          </a:xfrm>
          <a:prstGeom prst="rect">
            <a:avLst/>
          </a:prstGeom>
          <a:solidFill>
            <a:srgbClr val="A982FF"/>
          </a:solidFill>
          <a:ln w="12700">
            <a:solidFill>
              <a:srgbClr val="A98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298094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XOR Brute Force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246120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printable candidates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3895344"/>
            <a:ext cx="3337560" cy="749808"/>
          </a:xfrm>
          <a:prstGeom prst="roundRect">
            <a:avLst>
              <a:gd name="adj" fmla="val 15854"/>
            </a:avLst>
          </a:prstGeom>
          <a:solidFill>
            <a:srgbClr val="0C1A2B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3904488"/>
            <a:ext cx="64008" cy="731520"/>
          </a:xfrm>
          <a:prstGeom prst="rect">
            <a:avLst/>
          </a:prstGeom>
          <a:solidFill>
            <a:srgbClr val="28E0D3"/>
          </a:solidFill>
          <a:ln w="12700">
            <a:solidFill>
              <a:srgbClr val="28E0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05993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Stripper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4325112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structured filler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297680" y="3895344"/>
            <a:ext cx="3337560" cy="749808"/>
          </a:xfrm>
          <a:prstGeom prst="roundRect">
            <a:avLst>
              <a:gd name="adj" fmla="val 15854"/>
            </a:avLst>
          </a:prstGeom>
          <a:solidFill>
            <a:srgbClr val="0C1A2B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06824" y="3904488"/>
            <a:ext cx="64008" cy="731520"/>
          </a:xfrm>
          <a:prstGeom prst="rect">
            <a:avLst/>
          </a:prstGeom>
          <a:solidFill>
            <a:srgbClr val="A982FF"/>
          </a:solidFill>
          <a:ln w="12700">
            <a:solidFill>
              <a:srgbClr val="A98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405993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Analyzer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26280" y="4325112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hypotheses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001000" y="3895344"/>
            <a:ext cx="3337560" cy="749808"/>
          </a:xfrm>
          <a:prstGeom prst="roundRect">
            <a:avLst>
              <a:gd name="adj" fmla="val 15854"/>
            </a:avLst>
          </a:prstGeom>
          <a:solidFill>
            <a:srgbClr val="0C1A2B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10144" y="3904488"/>
            <a:ext cx="64008" cy="73152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0" y="405993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 Analyzer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29600" y="4325112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&amp; assess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82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8E0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— WORKFLOW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309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raw payload to an explainable finding.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interface pairs a left-side input/module selector with results that detail evidence, steps, and candidates.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2331720" cy="1389888"/>
          </a:xfrm>
          <a:prstGeom prst="roundRect">
            <a:avLst>
              <a:gd name="adj" fmla="val 8553"/>
            </a:avLst>
          </a:prstGeom>
          <a:solidFill>
            <a:srgbClr val="0C1A2B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8E0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7614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Suspicious payload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035808" y="2359152"/>
            <a:ext cx="246888" cy="301752"/>
          </a:xfrm>
          <a:prstGeom prst="chevron">
            <a:avLst/>
          </a:prstGeom>
          <a:solidFill>
            <a:srgbClr val="28E0D3">
              <a:alpha val="85000"/>
            </a:srgbClr>
          </a:solidFill>
          <a:ln w="12700">
            <a:solidFill>
              <a:srgbClr val="28E0D3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874520"/>
            <a:ext cx="2331720" cy="1389888"/>
          </a:xfrm>
          <a:prstGeom prst="roundRect">
            <a:avLst>
              <a:gd name="adj" fmla="val 8553"/>
            </a:avLst>
          </a:prstGeom>
          <a:solidFill>
            <a:srgbClr val="10243A"/>
          </a:solidFill>
          <a:ln w="8890">
            <a:solidFill>
              <a:srgbClr val="28E0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8E0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23957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7614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Signatures &amp; entropy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916168" y="2359152"/>
            <a:ext cx="246888" cy="301752"/>
          </a:xfrm>
          <a:prstGeom prst="chevron">
            <a:avLst/>
          </a:prstGeom>
          <a:solidFill>
            <a:srgbClr val="28E0D3">
              <a:alpha val="85000"/>
            </a:srgbClr>
          </a:solidFill>
          <a:ln w="12700">
            <a:solidFill>
              <a:srgbClr val="28E0D3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874520"/>
            <a:ext cx="2331720" cy="1389888"/>
          </a:xfrm>
          <a:prstGeom prst="roundRect">
            <a:avLst>
              <a:gd name="adj" fmla="val 8553"/>
            </a:avLst>
          </a:prstGeom>
          <a:solidFill>
            <a:srgbClr val="0C1A2B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8E0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37960" y="23957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27614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Targeted / recursive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796528" y="2359152"/>
            <a:ext cx="246888" cy="301752"/>
          </a:xfrm>
          <a:prstGeom prst="chevron">
            <a:avLst/>
          </a:prstGeom>
          <a:solidFill>
            <a:srgbClr val="28E0D3">
              <a:alpha val="85000"/>
            </a:srgbClr>
          </a:solidFill>
          <a:ln w="12700">
            <a:solidFill>
              <a:srgbClr val="28E0D3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1874520"/>
            <a:ext cx="2331720" cy="1389888"/>
          </a:xfrm>
          <a:prstGeom prst="roundRect">
            <a:avLst>
              <a:gd name="adj" fmla="val 8553"/>
            </a:avLst>
          </a:prstGeom>
          <a:solidFill>
            <a:srgbClr val="0C1A2B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8E0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418320" y="23957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18320" y="27614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&amp; evidence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94360" y="3986784"/>
            <a:ext cx="10972800" cy="1207008"/>
          </a:xfrm>
          <a:prstGeom prst="roundRect">
            <a:avLst>
              <a:gd name="adj" fmla="val 9848"/>
            </a:avLst>
          </a:prstGeom>
          <a:solidFill>
            <a:srgbClr val="10243A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25196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8E0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Evidence, not just output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37560" y="4160520"/>
            <a:ext cx="7543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module surfaces the clues behind a conclusion: detected characters, padding behavior, entropy classification, magic bytes, match coverage, and decode layers.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82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8E0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—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309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Browser-first analysis with an optional, protected AI path.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decoder stays in the client; the local server only mediates approved Gemini requests.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1965960" cy="493776"/>
          </a:xfrm>
          <a:prstGeom prst="roundRect">
            <a:avLst>
              <a:gd name="adj" fmla="val 24074"/>
            </a:avLst>
          </a:prstGeom>
          <a:solidFill>
            <a:srgbClr val="10243A"/>
          </a:solidFill>
          <a:ln w="8890">
            <a:solidFill>
              <a:srgbClr val="28E0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9280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E0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 input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71800" y="1828800"/>
            <a:ext cx="2148840" cy="493776"/>
          </a:xfrm>
          <a:prstGeom prst="roundRect">
            <a:avLst>
              <a:gd name="adj" fmla="val 24074"/>
            </a:avLst>
          </a:prstGeom>
          <a:solidFill>
            <a:srgbClr val="10243A"/>
          </a:solidFill>
          <a:ln w="8890">
            <a:solidFill>
              <a:srgbClr val="55E6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89280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decoder.js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32120" y="1828800"/>
            <a:ext cx="1600200" cy="493776"/>
          </a:xfrm>
          <a:prstGeom prst="roundRect">
            <a:avLst>
              <a:gd name="adj" fmla="val 24074"/>
            </a:avLst>
          </a:prstGeom>
          <a:solidFill>
            <a:srgbClr val="10243A"/>
          </a:solidFill>
          <a:ln w="8890">
            <a:solidFill>
              <a:srgbClr val="28E0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89280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E0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UI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543800" y="1828800"/>
            <a:ext cx="1280160" cy="493776"/>
          </a:xfrm>
          <a:prstGeom prst="roundRect">
            <a:avLst>
              <a:gd name="adj" fmla="val 24074"/>
            </a:avLst>
          </a:prstGeom>
          <a:solidFill>
            <a:srgbClr val="10243A"/>
          </a:solidFill>
          <a:ln w="8890">
            <a:solidFill>
              <a:srgbClr val="F1F6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1892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0" y="2048256"/>
            <a:ext cx="411480" cy="164592"/>
          </a:xfrm>
          <a:prstGeom prst="chevron">
            <a:avLst/>
          </a:prstGeom>
          <a:solidFill>
            <a:srgbClr val="28E0D3"/>
          </a:solidFill>
          <a:ln w="12700">
            <a:solidFill>
              <a:srgbClr val="28E0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2048256"/>
            <a:ext cx="411480" cy="164592"/>
          </a:xfrm>
          <a:prstGeom prst="chevron">
            <a:avLst/>
          </a:prstGeom>
          <a:solidFill>
            <a:srgbClr val="28E0D3"/>
          </a:solidFill>
          <a:ln w="12700">
            <a:solidFill>
              <a:srgbClr val="28E0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2048256"/>
            <a:ext cx="411480" cy="164592"/>
          </a:xfrm>
          <a:prstGeom prst="chevron">
            <a:avLst/>
          </a:prstGeom>
          <a:solidFill>
            <a:srgbClr val="28E0D3"/>
          </a:solidFill>
          <a:ln w="12700">
            <a:solidFill>
              <a:srgbClr val="28E0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41648" y="2331720"/>
            <a:ext cx="0" cy="941832"/>
          </a:xfrm>
          <a:prstGeom prst="line">
            <a:avLst/>
          </a:prstGeom>
          <a:noFill/>
          <a:ln w="12700">
            <a:solidFill>
              <a:srgbClr val="A982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3429000"/>
            <a:ext cx="2148840" cy="493776"/>
          </a:xfrm>
          <a:prstGeom prst="roundRect">
            <a:avLst>
              <a:gd name="adj" fmla="val 24074"/>
            </a:avLst>
          </a:prstGeom>
          <a:solidFill>
            <a:srgbClr val="10243A"/>
          </a:solidFill>
          <a:ln w="8890">
            <a:solidFill>
              <a:srgbClr val="A98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349300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8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Gemini proxy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30952" y="3602736"/>
            <a:ext cx="411480" cy="164592"/>
          </a:xfrm>
          <a:prstGeom prst="chevron">
            <a:avLst/>
          </a:prstGeom>
          <a:solidFill>
            <a:srgbClr val="A982FF"/>
          </a:solidFill>
          <a:ln w="12700">
            <a:solidFill>
              <a:srgbClr val="A982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25312" y="3383280"/>
            <a:ext cx="1536192" cy="493776"/>
          </a:xfrm>
          <a:prstGeom prst="roundRect">
            <a:avLst>
              <a:gd name="adj" fmla="val 24074"/>
            </a:avLst>
          </a:prstGeom>
          <a:solidFill>
            <a:srgbClr val="10243A"/>
          </a:solidFill>
          <a:ln w="8890">
            <a:solidFill>
              <a:srgbClr val="A98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6752" y="344728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8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API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4663440"/>
            <a:ext cx="10972800" cy="914400"/>
          </a:xfrm>
          <a:prstGeom prst="roundRect">
            <a:avLst>
              <a:gd name="adj" fmla="val 13000"/>
            </a:avLst>
          </a:prstGeom>
          <a:solidFill>
            <a:srgbClr val="0C1A2B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9377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boundary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14600" y="483717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key is loaded from a local .env file, never exposed to the browser. The proxy allowlists models, scopes CORS to the local origin, and caps JSON bodies at 1 MB.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82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8E0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— DECODING ENGINE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309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Layer-aware analysis, not a single-shot conversion.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OmniDecoder combines format heuristics with safe decoding attempts and readable candidate ranking.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801368"/>
            <a:ext cx="164592" cy="164592"/>
          </a:xfrm>
          <a:prstGeom prst="ellipse">
            <a:avLst/>
          </a:prstGeom>
          <a:solidFill>
            <a:srgbClr val="28E0D3"/>
          </a:solidFill>
          <a:ln w="12700">
            <a:solidFill>
              <a:srgbClr val="28E0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Zero-width → bits → bytes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251960" y="1691640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Extracts invisible Unicode markers and reconstructs hidden byte streams.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1005840" y="2130552"/>
            <a:ext cx="9921240" cy="0"/>
          </a:xfrm>
          <a:prstGeom prst="line">
            <a:avLst/>
          </a:prstGeom>
          <a:noFill/>
          <a:ln w="6350">
            <a:solidFill>
              <a:srgbClr val="2440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514600"/>
            <a:ext cx="164592" cy="164592"/>
          </a:xfrm>
          <a:prstGeom prst="ellipse">
            <a:avLst/>
          </a:prstGeom>
          <a:solidFill>
            <a:srgbClr val="A982FF"/>
          </a:solidFill>
          <a:ln w="12700">
            <a:solidFill>
              <a:srgbClr val="A98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40487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Base64 tail-bit analysis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4251960" y="240487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non-zero unused bits before padding — a covert-data indicator.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1005840" y="2843784"/>
            <a:ext cx="9921240" cy="0"/>
          </a:xfrm>
          <a:prstGeom prst="line">
            <a:avLst/>
          </a:prstGeom>
          <a:noFill/>
          <a:ln w="6350">
            <a:solidFill>
              <a:srgbClr val="2440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227832"/>
            <a:ext cx="164592" cy="164592"/>
          </a:xfrm>
          <a:prstGeom prst="ellipse">
            <a:avLst/>
          </a:prstGeom>
          <a:solidFill>
            <a:srgbClr val="55E6A5"/>
          </a:solidFill>
          <a:ln w="12700">
            <a:solidFill>
              <a:srgbClr val="55E6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11810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Alphabet matching &amp; Base-X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4251960" y="3118104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Scores known alphabets and attempts Base64, Base58, Base32, and hex.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1005840" y="3557016"/>
            <a:ext cx="9921240" cy="0"/>
          </a:xfrm>
          <a:prstGeom prst="line">
            <a:avLst/>
          </a:prstGeom>
          <a:noFill/>
          <a:ln w="6350">
            <a:solidFill>
              <a:srgbClr val="2440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941064"/>
            <a:ext cx="164592" cy="16459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8313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Entropy &amp; magic bytes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4251960" y="3831336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Classifies data character and identifies common binary signatures.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1005840" y="4270248"/>
            <a:ext cx="9921240" cy="0"/>
          </a:xfrm>
          <a:prstGeom prst="line">
            <a:avLst/>
          </a:prstGeom>
          <a:noFill/>
          <a:ln w="6350">
            <a:solidFill>
              <a:srgbClr val="2440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4654296"/>
            <a:ext cx="164592" cy="164592"/>
          </a:xfrm>
          <a:prstGeom prst="ellipse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54456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Recursive pipeline &amp; XOR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4251960" y="4544568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Peels transformations and tests all 256 single-byte XOR keys for printable output.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1005840" y="4983480"/>
            <a:ext cx="9921240" cy="0"/>
          </a:xfrm>
          <a:prstGeom prst="line">
            <a:avLst/>
          </a:prstGeom>
          <a:noFill/>
          <a:ln w="6350">
            <a:solidFill>
              <a:srgbClr val="24405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82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8E0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— AI-ASSISTED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309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Gemini as a structured second opinion.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Analyzer combines local fingerprinting and candidate decodes with an optional Gemini 2.5 Flash analysis.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4983480" cy="3520440"/>
          </a:xfrm>
          <a:prstGeom prst="roundRect">
            <a:avLst>
              <a:gd name="adj" fmla="val 3377"/>
            </a:avLst>
          </a:prstGeom>
          <a:solidFill>
            <a:srgbClr val="0C1A2B"/>
          </a:solidFill>
          <a:ln w="8890">
            <a:solidFill>
              <a:srgbClr val="A98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756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8E0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baseline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624328"/>
            <a:ext cx="128016" cy="128016"/>
          </a:xfrm>
          <a:prstGeom prst="ellipse">
            <a:avLst/>
          </a:prstGeom>
          <a:solidFill>
            <a:srgbClr val="55E6A5"/>
          </a:solidFill>
          <a:ln w="12700">
            <a:solidFill>
              <a:srgbClr val="55E6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25511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without an external call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127248"/>
            <a:ext cx="128016" cy="128016"/>
          </a:xfrm>
          <a:prstGeom prst="ellipse">
            <a:avLst/>
          </a:prstGeom>
          <a:solidFill>
            <a:srgbClr val="55E6A5"/>
          </a:solidFill>
          <a:ln w="12700">
            <a:solidFill>
              <a:srgbClr val="55E6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30540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Finds pattern fingerprints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630168"/>
            <a:ext cx="128016" cy="128016"/>
          </a:xfrm>
          <a:prstGeom prst="ellipse">
            <a:avLst/>
          </a:prstGeom>
          <a:solidFill>
            <a:srgbClr val="55E6A5"/>
          </a:solidFill>
          <a:ln w="12700">
            <a:solidFill>
              <a:srgbClr val="55E6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5570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Ranks decoder candidates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4133088"/>
            <a:ext cx="128016" cy="128016"/>
          </a:xfrm>
          <a:prstGeom prst="ellipse">
            <a:avLst/>
          </a:prstGeom>
          <a:solidFill>
            <a:srgbClr val="55E6A5"/>
          </a:solidFill>
          <a:ln w="12700">
            <a:solidFill>
              <a:srgbClr val="55E6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0599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multi-layer chain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783080"/>
            <a:ext cx="5349240" cy="3520440"/>
          </a:xfrm>
          <a:prstGeom prst="roundRect">
            <a:avLst>
              <a:gd name="adj" fmla="val 3377"/>
            </a:avLst>
          </a:prstGeom>
          <a:solidFill>
            <a:srgbClr val="0C1A2B"/>
          </a:solidFill>
          <a:ln w="8890">
            <a:solidFill>
              <a:srgbClr val="A98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0756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8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assistance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63640" y="2624328"/>
            <a:ext cx="128016" cy="128016"/>
          </a:xfrm>
          <a:prstGeom prst="ellipse">
            <a:avLst/>
          </a:prstGeom>
          <a:solidFill>
            <a:srgbClr val="A982FF"/>
          </a:solidFill>
          <a:ln w="12700">
            <a:solidFill>
              <a:srgbClr val="A98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55117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 summary and hypotheses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127248"/>
            <a:ext cx="128016" cy="128016"/>
          </a:xfrm>
          <a:prstGeom prst="ellipse">
            <a:avLst/>
          </a:prstGeom>
          <a:solidFill>
            <a:srgbClr val="A982FF"/>
          </a:solidFill>
          <a:ln w="12700">
            <a:solidFill>
              <a:srgbClr val="A98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305409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Step-by-step decode layers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3630168"/>
            <a:ext cx="128016" cy="128016"/>
          </a:xfrm>
          <a:prstGeom prst="ellipse">
            <a:avLst/>
          </a:prstGeom>
          <a:solidFill>
            <a:srgbClr val="A982FF"/>
          </a:solidFill>
          <a:ln w="12700">
            <a:solidFill>
              <a:srgbClr val="A98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35570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 and confidence cues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4133088"/>
            <a:ext cx="128016" cy="128016"/>
          </a:xfrm>
          <a:prstGeom prst="ellipse">
            <a:avLst/>
          </a:prstGeom>
          <a:solidFill>
            <a:srgbClr val="A982FF"/>
          </a:solidFill>
          <a:ln w="12700">
            <a:solidFill>
              <a:srgbClr val="A98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405993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allowlist enforced by proxy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68756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principle: assistance enriches the investigation; it does not replace observable evidence.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82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502920"/>
            <a:ext cx="4023360" cy="4023360"/>
          </a:xfrm>
          <a:prstGeom prst="ellipse">
            <a:avLst/>
          </a:prstGeom>
          <a:solidFill>
            <a:srgbClr val="A982FF">
              <a:alpha val="9000"/>
            </a:srgbClr>
          </a:solidFill>
          <a:ln w="12700">
            <a:solidFill>
              <a:srgbClr val="A982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10058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8E0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OMNIDECODER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1490472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clearer path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 hidden data.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1A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Forensic decoding should be fast, evidence-led, and approachable — whether the signal is invisible text, malformed padding, layered encoding, or a suspicious hash.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" y="4069080"/>
            <a:ext cx="5486400" cy="685800"/>
          </a:xfrm>
          <a:prstGeom prst="roundRect">
            <a:avLst>
              <a:gd name="adj" fmla="val 17333"/>
            </a:avLst>
          </a:prstGeom>
          <a:solidFill>
            <a:srgbClr val="10243A"/>
          </a:solidFill>
          <a:ln w="8890">
            <a:solidFill>
              <a:srgbClr val="28E0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279392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8E0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locally: npm start  →  http://localhost:3000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53492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82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OmniDecoder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OmniDecoder — Forensic Decoding Workbench</dc:title>
  <dc:subject>OmniDecoder project overview</dc:subject>
  <dc:creator>OmniDecoder</dc:creator>
  <cp:lastModifiedBy>OmniDecoder</cp:lastModifiedBy>
  <cp:revision>1</cp:revision>
  <dcterms:created xsi:type="dcterms:W3CDTF">2026-08-15T04:55:02Z</dcterms:created>
  <dcterms:modified xsi:type="dcterms:W3CDTF">2026-08-15T04:55:02Z</dcterms:modified>
</cp:coreProperties>
</file>